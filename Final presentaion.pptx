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305" r:id="rId8"/>
    <p:sldId id="307" r:id="rId9"/>
    <p:sldId id="303" r:id="rId10"/>
    <p:sldId id="274" r:id="rId11"/>
    <p:sldId id="275" r:id="rId12"/>
    <p:sldId id="276" r:id="rId13"/>
    <p:sldId id="277" r:id="rId14"/>
    <p:sldId id="259" r:id="rId15"/>
    <p:sldId id="279" r:id="rId16"/>
    <p:sldId id="299" r:id="rId17"/>
    <p:sldId id="301" r:id="rId18"/>
    <p:sldId id="300" r:id="rId19"/>
    <p:sldId id="302" r:id="rId20"/>
    <p:sldId id="281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78" r:id="rId33"/>
    <p:sldId id="266" r:id="rId34"/>
    <p:sldId id="298" r:id="rId35"/>
    <p:sldId id="304" r:id="rId36"/>
    <p:sldId id="306" r:id="rId37"/>
    <p:sldId id="267" r:id="rId38"/>
  </p:sldIdLst>
  <p:sldSz cx="18288000" cy="10287000"/>
  <p:notesSz cx="6858000" cy="9144000"/>
  <p:embeddedFontLst>
    <p:embeddedFont>
      <p:font typeface="Futura Bold" charset="0"/>
      <p:regular r:id="rId39"/>
    </p:embeddedFont>
    <p:embeddedFont>
      <p:font typeface="Varela Round" charset="-79"/>
      <p:regular r:id="rId40"/>
    </p:embeddedFont>
    <p:embeddedFont>
      <p:font typeface="Calibri" pitchFamily="3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697"/>
    <a:srgbClr val="2A04B4"/>
    <a:srgbClr val="080892"/>
    <a:srgbClr val="130ACC"/>
    <a:srgbClr val="2D46F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2" autoAdjust="0"/>
    <p:restoredTop sz="94664" autoAdjust="0"/>
  </p:normalViewPr>
  <p:slideViewPr>
    <p:cSldViewPr>
      <p:cViewPr varScale="1">
        <p:scale>
          <a:sx n="70" d="100"/>
          <a:sy n="70" d="100"/>
        </p:scale>
        <p:origin x="-69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90/s19204383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cose.2023.103169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14646" y="3071798"/>
            <a:ext cx="11633233" cy="249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Detecting Jamming Attacks in Wireless Sensor Networks Using Machine Learning </a:t>
            </a:r>
            <a:endParaRPr lang="en-US" sz="54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3208" y="428592"/>
            <a:ext cx="111443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A.P.J. Abdul Kalam Technical University, Lucknow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rcRect l="3236" t="3824" r="2647" b="1764"/>
          <a:stretch/>
        </p:blipFill>
        <p:spPr bwMode="auto">
          <a:xfrm>
            <a:off x="2143076" y="5143500"/>
            <a:ext cx="2520000" cy="25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rcRect r="1035"/>
          <a:stretch/>
        </p:blipFill>
        <p:spPr bwMode="auto">
          <a:xfrm>
            <a:off x="13144528" y="5072062"/>
            <a:ext cx="2518235" cy="25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/>
            </a:ext>
          </a:extLst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3EBBFB33-6989-B644-47C4-817DF22F0D2F}"/>
              </a:ext>
            </a:extLst>
          </p:cNvPr>
          <p:cNvSpPr txBox="1">
            <a:spLocks/>
          </p:cNvSpPr>
          <p:nvPr/>
        </p:nvSpPr>
        <p:spPr>
          <a:xfrm>
            <a:off x="5857852" y="6000756"/>
            <a:ext cx="7215238" cy="2857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Presented By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Vivek Verma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No. 1643110555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M.Tech Computer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Science Engineering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Centre for Advanced Studies, AKTU, Lucknow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1968" y="2428856"/>
            <a:ext cx="8685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 for Advanced Studies, AKTU Campus Lucknow</a:t>
            </a:r>
            <a:endParaRPr lang="en-US" sz="2800" b="1" dirty="0" smtClean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571968" y="2071666"/>
            <a:ext cx="8960375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OUTLINE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958119"/>
            <a:ext cx="12603956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Introduction</a:t>
            </a:r>
          </a:p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Related Works</a:t>
            </a:r>
          </a:p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Proposed Methodology</a:t>
            </a:r>
          </a:p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Experiments and Results</a:t>
            </a:r>
          </a:p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Limitation</a:t>
            </a:r>
            <a:endParaRPr lang="en-US" sz="3200" dirty="0" smtClean="0">
              <a:solidFill>
                <a:srgbClr val="034697"/>
              </a:solidFill>
              <a:latin typeface="Times New Roman" pitchFamily="18" charset="0"/>
              <a:ea typeface="Varela Round"/>
              <a:cs typeface="Times New Roman" pitchFamily="18" charset="0"/>
              <a:sym typeface="Varela Round"/>
            </a:endParaRPr>
          </a:p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Conclusion </a:t>
            </a:r>
          </a:p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Future </a:t>
            </a:r>
            <a:r>
              <a:rPr lang="en-US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Scope</a:t>
            </a:r>
          </a:p>
          <a:p>
            <a:pPr>
              <a:lnSpc>
                <a:spcPts val="4480"/>
              </a:lnSpc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034697"/>
                </a:solidFill>
                <a:latin typeface="Times New Roman" pitchFamily="18" charset="0"/>
                <a:ea typeface="Varela Round"/>
                <a:cs typeface="Times New Roman" pitchFamily="18" charset="0"/>
                <a:sym typeface="Varela Round"/>
              </a:rPr>
              <a:t>References</a:t>
            </a:r>
            <a:endParaRPr lang="en-US" sz="3200" dirty="0">
              <a:solidFill>
                <a:srgbClr val="034697"/>
              </a:solidFill>
              <a:latin typeface="Times New Roman" pitchFamily="18" charset="0"/>
              <a:ea typeface="Varela Round"/>
              <a:cs typeface="Times New Roman" pitchFamily="18" charset="0"/>
              <a:sym typeface="Varela Rou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43406" y="2071666"/>
            <a:ext cx="8960375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000" b="1" dirty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71704" y="3958119"/>
            <a:ext cx="13073154" cy="4455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Wireless networks make use of shared transmission medium; therefore, they are 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open to 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several malicious attacks.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 jammer intercepts a transmission, injects spurious packets, and blocks or jams the legitimate transmissions.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Jammers, which generate high frequency noise, can significantly degrade network performance by interfering with the band width used by sending and receiving nodes.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Hence there is a need for effective detection and mitigation techniques against jamming attacks.</a:t>
            </a:r>
            <a:endParaRPr lang="en-US" sz="2400" b="1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ts val="4480"/>
              </a:lnSpc>
            </a:pPr>
            <a:endParaRPr lang="en-US" sz="24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14844" y="2143104"/>
            <a:ext cx="8960375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OBJECTIVES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958119"/>
            <a:ext cx="12603956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Choose 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 comprehensive dataset for jamming detection.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Design and implement machine learning models for jamming detection.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Develop an accurate detection system.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Evaluate and compare the performance of different ML models on different datasets</a:t>
            </a:r>
          </a:p>
          <a:p>
            <a:pPr algn="ctr">
              <a:lnSpc>
                <a:spcPct val="150000"/>
              </a:lnSpc>
            </a:pPr>
            <a:endParaRPr lang="en-US" sz="2400" dirty="0">
              <a:solidFill>
                <a:srgbClr val="034697"/>
              </a:solidFill>
              <a:latin typeface="Times New Roman" pitchFamily="18" charset="0"/>
              <a:ea typeface="Varela Round"/>
              <a:cs typeface="Times New Roman" pitchFamily="18" charset="0"/>
              <a:sym typeface="Varela Rou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57720" y="1785914"/>
            <a:ext cx="8960375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RELATED WORK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571572" y="3357550"/>
          <a:ext cx="15325147" cy="564333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363470"/>
                <a:gridCol w="1996154"/>
                <a:gridCol w="1998123"/>
                <a:gridCol w="1994184"/>
                <a:gridCol w="1996154"/>
                <a:gridCol w="1996154"/>
                <a:gridCol w="2980908"/>
              </a:tblGrid>
              <a:tr h="85446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Paper Title and Year</a:t>
                      </a:r>
                      <a:endParaRPr sz="20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Author Name</a:t>
                      </a:r>
                      <a:endParaRPr sz="20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Technology Used</a:t>
                      </a:r>
                      <a:endParaRPr sz="20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Dataset</a:t>
                      </a:r>
                      <a:endParaRPr sz="20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Accuracy</a:t>
                      </a:r>
                      <a:endParaRPr sz="20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Advantage</a:t>
                      </a:r>
                      <a:endParaRPr sz="20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Disadvantage</a:t>
                      </a:r>
                      <a:endParaRPr sz="20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</a:tr>
              <a:tr h="23597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[1] A </a:t>
                      </a: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genetic-based extreme gradient boosting model for detecting intrusions in wireless sensor networks, </a:t>
                      </a:r>
                      <a:r>
                        <a:rPr lang="en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2019</a:t>
                      </a:r>
                      <a:endParaRPr sz="200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Alqahtani, M., Gumaei, A., Mathkour, H., &amp; Maher Ben Ismail</a:t>
                      </a:r>
                      <a:endParaRPr sz="200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GXGBoost </a:t>
                      </a:r>
                      <a:endParaRPr sz="200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WSN-DS dataset </a:t>
                      </a:r>
                      <a:endParaRPr sz="200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99.9% for normal traffic </a:t>
                      </a:r>
                      <a:endParaRPr sz="200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Proposed model outperforms the state-of-the-art models classifiers with high detection rates.</a:t>
                      </a:r>
                      <a:endParaRPr sz="200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Requires high memory due to tree based structure.</a:t>
                      </a:r>
                      <a:endParaRPr sz="200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</a:tr>
              <a:tr h="24291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[2] A Statistical Approach to Detect Jamming Attacks in Wireless Sensor Networks, 2018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Opeyemi Osanaiye, Attahiru S. Alfa, Gerhard P. Hancke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Statistical Process Control, Exponentially Weighted Moving Average (EWMA)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Trace-driven simulation data from wireless sensor networks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95%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Minimal computational overhead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Limited to DoS jamming attacks; may not detect other types of attacks.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43406" y="1500162"/>
            <a:ext cx="8960375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RELATED WORK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285820" y="2928922"/>
          <a:ext cx="15885599" cy="614355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449904"/>
                <a:gridCol w="1707583"/>
                <a:gridCol w="2432766"/>
                <a:gridCol w="2067113"/>
                <a:gridCol w="2069154"/>
                <a:gridCol w="2490299"/>
                <a:gridCol w="2668780"/>
              </a:tblGrid>
              <a:tr h="5658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Paper Title and Year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Author Name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Technology Used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Dataset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Accuracy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Advantage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Disadvantage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</a:tr>
              <a:tr h="274310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[3] An Online Ensemble Learning Model for Detecting Attacks in Wireless Sensor Networks, 2022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Hiba Tabbaa, Samir Ifzarne, Imad Hafidi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Ensemble Learning (Homogeneous: Hoeffding Adaptive Tree; Heterogeneous: Adaptive Random Forest combined with Hoeffding Adaptive Tree)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Specialized Wireless Sensor Network Detection System (WSN-DS) dataset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Heterogeneous Ensemble :</a:t>
                      </a:r>
                      <a:r>
                        <a:rPr lang="en-US" sz="20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96.84%.</a:t>
                      </a:r>
                    </a:p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Homogeneous Ensemble : 97.2%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 detection accuracy.</a:t>
                      </a:r>
                      <a:r>
                        <a:rPr lang="en-US" sz="20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 computational overhead suitable for resource-constrained WSNs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Limited to specific attack types (Blackhole, Grayhole, Flooding, Scheduling).</a:t>
                      </a:r>
                      <a:r>
                        <a:rPr lang="en-US" sz="20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May not generalize well to other types of attacks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583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[4] Bayesian Inference-Assisted Machine Learning for Near Real-Time Jamming Detection and Classification in 5G New Radio (NR),</a:t>
                      </a:r>
                      <a:r>
                        <a:rPr lang="en-US" sz="20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2023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Shashank Jere, Ying Wang, Ishan Aryendu, Shehadi Dayekh, Lingjia Liu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Bayesian Inference, Echo State Networks (ESN), Reservoir Computing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Cross-layer Key Performance Indicator (KPI) data collected on a Non-Standalone (NSA) 5G NR testbed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Instantaneous models: 95.4%</a:t>
                      </a:r>
                    </a:p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Sequential models (including ESN):</a:t>
                      </a:r>
                      <a:r>
                        <a:rPr lang="en-US" sz="20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98.8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 detection accuracy. 180 ms instantaneous detection time.</a:t>
                      </a:r>
                      <a:r>
                        <a:rPr lang="en-US" sz="20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Continuous tracking of dynamic jamming conditions due to User Equipment (UE) mobility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Limited to specific jamming scenarios tested in the study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43406" y="1500162"/>
            <a:ext cx="8960375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RELATED WORK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285820" y="2928922"/>
          <a:ext cx="15885599" cy="592508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86082"/>
                <a:gridCol w="1857388"/>
                <a:gridCol w="2214578"/>
                <a:gridCol w="1799318"/>
                <a:gridCol w="1629706"/>
                <a:gridCol w="2929747"/>
                <a:gridCol w="2668780"/>
              </a:tblGrid>
              <a:tr h="5658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Paper Title and Year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Author Name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Technology Used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Dataset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Accuracy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Advantage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Disadvantage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</a:tr>
              <a:tr h="27431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[5] Machine </a:t>
                      </a: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learning-based jamming attack classification and effective </a:t>
                      </a: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defence technique, 2023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Sun-Jin Lee, Yu-Rim Lee, So-Eun Jeon, Il-Gu Lee</a:t>
                      </a:r>
                      <a:endParaRPr lang="en-US" sz="2000" kern="10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Random Forest, BSS Coloring, Battery Draining </a:t>
                      </a:r>
                      <a:r>
                        <a:rPr lang="en-GB" sz="2000" kern="100" dirty="0" err="1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Defense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WSN-DS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98.16%</a:t>
                      </a:r>
                      <a:endParaRPr lang="en-US" sz="2000" kern="100" dirty="0" smtClean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JCED improves network performance with </a:t>
                      </a:r>
                      <a:r>
                        <a:rPr lang="en-US" sz="2000" b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24.9% higher throughput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  <a:r>
                        <a:rPr lang="en-US" sz="2000" b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23.4% lower energy consumption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compared to countermeasure detection and consistency algorithm (CDCA).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Simulation-only validation; untested in real-world deployments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5832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[6] Multi-stage </a:t>
                      </a: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Jamming Attacks Detection using Deep Learning Combined with </a:t>
                      </a:r>
                      <a:r>
                        <a:rPr lang="en-GB" sz="2000" kern="100" dirty="0" err="1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Kernelized</a:t>
                      </a: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Support Vector Machine in 5G Cloud Radio Access </a:t>
                      </a: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Networks,</a:t>
                      </a:r>
                      <a:r>
                        <a:rPr lang="en-GB" sz="2000" kern="1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2020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Marouane </a:t>
                      </a:r>
                      <a:r>
                        <a:rPr lang="en-GB" sz="2000" kern="100" dirty="0" err="1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Hachimi</a:t>
                      </a: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Georges </a:t>
                      </a:r>
                      <a:r>
                        <a:rPr lang="en-GB" sz="2000" kern="100" dirty="0" err="1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Kaddoum</a:t>
                      </a: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</a:t>
                      </a:r>
                      <a:r>
                        <a:rPr lang="en-GB" sz="2000" kern="100" dirty="0" err="1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Ghyslain</a:t>
                      </a: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Gagnon, </a:t>
                      </a:r>
                      <a:r>
                        <a:rPr lang="en-GB" sz="2000" kern="100" dirty="0" err="1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Poulmanogo</a:t>
                      </a: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GB" sz="2000" kern="100" dirty="0" err="1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Illy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MLP + KSVM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kern="1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WSN-DS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kern="1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94.51%</a:t>
                      </a:r>
                      <a:endParaRPr lang="en-US" sz="2000" kern="100" dirty="0" smtClean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 detection accuracy: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 multi-stage ML-IDS (MLP + KSVM) achieves </a:t>
                      </a:r>
                      <a:r>
                        <a:rPr lang="en-US" sz="2000" b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94.51% accuracy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with a reduced false negative rate (7.84%).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Relies on one dataset; does not include intelligent/advanced jamming attacks</a:t>
                      </a:r>
                      <a:endParaRPr lang="en-US" sz="2000" kern="100" dirty="0">
                        <a:solidFill>
                          <a:srgbClr val="034697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43406" y="1500162"/>
            <a:ext cx="8960375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RELATED WORK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285820" y="2928922"/>
          <a:ext cx="15885599" cy="627560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86082"/>
                <a:gridCol w="1857388"/>
                <a:gridCol w="2214578"/>
                <a:gridCol w="1799318"/>
                <a:gridCol w="1629706"/>
                <a:gridCol w="2929747"/>
                <a:gridCol w="2668780"/>
              </a:tblGrid>
              <a:tr h="5658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Paper Title and Year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Author Name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Technology Used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Dataset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Accuracy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Advantage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  <a:sym typeface="Times New Roman"/>
                        </a:rPr>
                        <a:t>Disadvantage</a:t>
                      </a:r>
                      <a:endParaRPr sz="1800" b="1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</a:tr>
              <a:tr h="27431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[7] Deep </a:t>
                      </a:r>
                      <a:r>
                        <a:rPr lang="en-US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Learning Models for Cyber Security in IoT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Networks, 2019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Monika Roopak, Gui Yun Tian, Jonathon Chambers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MLP, CNN, LSTM, CNN+LSTM (Deep Learning Models)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CICIDS2017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97.16% (CNN+LSTM)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 proposed hybrid CNN+LSTM deep learning model achieves </a:t>
                      </a:r>
                      <a:r>
                        <a:rPr lang="en-US" sz="2000" b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 accuracy (97.16%)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for DDoS attack detection, outperforming traditional machine learning methods like SVM and Random Forest.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 approach requires </a:t>
                      </a:r>
                      <a:r>
                        <a:rPr lang="en-US" sz="2000" b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longer training times and high computational resources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which can be a limitation for real-time IoT environments.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5832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[8] Toward </a:t>
                      </a:r>
                      <a:r>
                        <a:rPr lang="en-US" sz="2000" dirty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 Lightweight Intrusion Detection System for the </a:t>
                      </a: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IoT, 2019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S.U. Jan, S. Ahmed, V. Shakhov, I. Koo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SVM-based IDS using packet arrival rate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Beget (generated), CICIDS2017 (subset)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98.35%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Outperforms conventional IDS approaches like GA-SVM, A-IDS, and WFS-IDS in both detection speed and efficiency.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Relies on simulated datasets (Beget), reducing its direct applicability to real-world IoT traffic without further validation.</a:t>
                      </a:r>
                      <a:endParaRPr lang="en-US" sz="2000" dirty="0">
                        <a:solidFill>
                          <a:srgbClr val="034697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00266" y="1643038"/>
            <a:ext cx="13358906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462" b="1" dirty="0" smtClean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PROPOSED METHODOLOGY</a:t>
            </a:r>
            <a:endParaRPr lang="en-US" sz="8462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14646" y="9286904"/>
            <a:ext cx="1260395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8600" indent="-228600" algn="ctr">
              <a:spcBef>
                <a:spcPts val="1000"/>
              </a:spcBef>
              <a:buClr>
                <a:schemeClr val="accent2"/>
              </a:buClr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System Architecture of proposed methodology </a:t>
            </a:r>
          </a:p>
        </p:txBody>
      </p:sp>
      <p:pic>
        <p:nvPicPr>
          <p:cNvPr id="8" name="Content Placeholder 5" descr="Data Collection 2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14844" y="3000360"/>
            <a:ext cx="9427497" cy="5893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43076" y="2143104"/>
            <a:ext cx="1435903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958119"/>
            <a:ext cx="12603956" cy="438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DATASET SELECTION:</a:t>
            </a:r>
            <a:endParaRPr lang="en-US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buNone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1.  </a:t>
            </a: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KDD Cup 1999 (</a:t>
            </a:r>
            <a:r>
              <a:rPr lang="en-US" sz="2400" b="1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Kaggle</a:t>
            </a: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):  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Original dataset for network intrusion detection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Contains ~4.9 million records (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train+test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41 features + 1 label (normal or attack)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Attack types: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DoS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Probe, U2R, R2L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Known for data redundancy and imbalance</a:t>
            </a:r>
          </a:p>
          <a:p>
            <a:pPr algn="ctr">
              <a:lnSpc>
                <a:spcPts val="4480"/>
              </a:lnSpc>
            </a:pPr>
            <a:endParaRPr lang="en-US" sz="2400" dirty="0">
              <a:solidFill>
                <a:srgbClr val="034697"/>
              </a:solidFill>
              <a:latin typeface="Times New Roman" pitchFamily="18" charset="0"/>
              <a:ea typeface="Varela Round"/>
              <a:cs typeface="Times New Roman" pitchFamily="18" charset="0"/>
              <a:sym typeface="Varela Rou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14514" y="2143104"/>
            <a:ext cx="1435903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958119"/>
            <a:ext cx="12603956" cy="381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DATASET SELECTION:</a:t>
            </a:r>
            <a:endParaRPr lang="en-US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buNone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NSL-KDD: 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Improved version of KDD'99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Removed redundant and duplicate records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More balanced and realistic evaluation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Easier to benchmark ML models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Divided into KDDTrain+, KDDTest+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00200" y="2143104"/>
            <a:ext cx="1450191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958119"/>
            <a:ext cx="12603956" cy="381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DATASET SELECTION:</a:t>
            </a:r>
            <a:endParaRPr lang="en-US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buNone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CICIDS 2017: 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Developed by the Canadian Institute for Cybersecurity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Represents up-to-date attack scenarios and normal traffic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Includes attacks: DDoS, Brute Force, Web, Botnet, etc.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Realistic traffic with labeled flows</a:t>
            </a:r>
          </a:p>
          <a:p>
            <a:pPr lvl="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Contains over 80 extracted features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14514" y="2143104"/>
            <a:ext cx="14216162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958119"/>
            <a:ext cx="12603956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Data Preprocessing: 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1. Dataset Splitting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Separated data into: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Features (X)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 – all input attributes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Target (y)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 – the output class label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Target variable excluded from feature matrix</a:t>
            </a:r>
          </a:p>
          <a:p>
            <a:pPr lvl="1"/>
            <a:endParaRPr lang="en-US" sz="24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28762" y="2128567"/>
            <a:ext cx="14430476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591299"/>
            <a:ext cx="12603956" cy="382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Data Preprocessing: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2. Handling Categorical Data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Identified categorical columns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Applied Label Encoding to: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Convert text categories to numerical values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Encode target variable for classification tasks</a:t>
            </a:r>
          </a:p>
          <a:p>
            <a:pPr marL="228600" lvl="0" indent="-2286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85886" y="2143104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591299"/>
            <a:ext cx="12603956" cy="535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Data Preprocessing: </a:t>
            </a:r>
          </a:p>
          <a:p>
            <a:pPr lvl="1"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3. Feature Standardization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Used StandardScaler to: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Transform features to have zero mean and unit variance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Normalize feature scales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Model Selection: </a:t>
            </a:r>
          </a:p>
          <a:p>
            <a:pPr lvl="1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1. Model Chosen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LightGBM (Light Gradient Boosting Machine)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CatBoost (Categorical Boosting)</a:t>
            </a:r>
          </a:p>
          <a:p>
            <a:endParaRPr lang="en-US" sz="24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85886" y="2143104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591299"/>
            <a:ext cx="12603956" cy="436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Model Selection: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2. LightGBM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Uses leaf-wise tree growth algorithm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Highly efficient, scalable, and accurate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Best suited for structured data with complex feature interactions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Support tasks like: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Classification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Regression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85886" y="2143104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pic>
        <p:nvPicPr>
          <p:cNvPr id="8" name="Picture 7" descr="LIGHTGBM 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1572" y="3143236"/>
            <a:ext cx="15430608" cy="59293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20" y="9286904"/>
            <a:ext cx="10144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Architecture Diagram of LightGBM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85886" y="2143104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42022" y="3591299"/>
            <a:ext cx="12603956" cy="3257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Model Selection: </a:t>
            </a:r>
          </a:p>
          <a:p>
            <a:pPr lvl="1">
              <a:lnSpc>
                <a:spcPct val="150000"/>
              </a:lnSpc>
              <a:buNone/>
              <a:defRPr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3. CatBoost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Designed to natively handle categorical features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Ideal for datasets with both numerical and categorical data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Robust and less prone to overfitting with default parameters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No need for extensive preprocessing of categorical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85886" y="2143104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PROPOSED METHODOLOGY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pic>
        <p:nvPicPr>
          <p:cNvPr id="9" name="Picture 8" descr="CatBoost 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3011" y="3143236"/>
            <a:ext cx="15287732" cy="60527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0530" y="9429780"/>
            <a:ext cx="10787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Architecture Diagram of CatBoost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7456" y="8715400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Multi-Class Classification-KDD Cup 1999 Dataset </a:t>
            </a: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2143076" y="3643302"/>
          <a:ext cx="13858971" cy="442915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31820"/>
                <a:gridCol w="2327886"/>
                <a:gridCol w="1979853"/>
                <a:gridCol w="1979853"/>
                <a:gridCol w="1979853"/>
                <a:gridCol w="1979853"/>
                <a:gridCol w="1979853"/>
              </a:tblGrid>
              <a:tr h="146284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Sr.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No.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Test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Validation, Test Ratio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 Score </a:t>
                      </a:r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32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60:20:20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LightGBM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99.72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99.32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99.52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99.32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32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70:15:15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99.69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99.48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99.58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99.48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32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60:10:30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99.77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99.08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99.42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99.08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326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99.62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99.71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99.62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3263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Average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99.75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99.37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99.55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99.37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00332" y="964409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Confusion Matrix of LightGBM on KDD Cup 1999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Content Placeholder 8"/>
          <p:cNvPicPr>
            <a:picLocks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428828" y="3000360"/>
            <a:ext cx="12644526" cy="650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7456" y="892971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Multi-Class Classification-KDD Cup 1999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Content Placeholder 5"/>
          <p:cNvGraphicFramePr>
            <a:graphicFrameLocks/>
          </p:cNvGraphicFramePr>
          <p:nvPr/>
        </p:nvGraphicFramePr>
        <p:xfrm>
          <a:off x="2214515" y="3357550"/>
          <a:ext cx="13358906" cy="514353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526647"/>
                <a:gridCol w="2290184"/>
                <a:gridCol w="1908415"/>
                <a:gridCol w="1908415"/>
                <a:gridCol w="1908415"/>
                <a:gridCol w="1908415"/>
                <a:gridCol w="1908415"/>
              </a:tblGrid>
              <a:tr h="169878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Sr.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No.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Test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Validation, Test Ratio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 Score </a:t>
                      </a:r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95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60:20:20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CatBoost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95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95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60:30:10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95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70:15:15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8951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Average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00332" y="964409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Confusion Matrix of CatBoost on KDD Cup 1999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Content Placeholder 8"/>
          <p:cNvPicPr>
            <a:picLocks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143208" y="3000360"/>
            <a:ext cx="11787270" cy="6572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7456" y="892971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Multi-Class Classification-NSL KDD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28762" y="3357550"/>
          <a:ext cx="14144724" cy="507209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430440"/>
                <a:gridCol w="1591311"/>
                <a:gridCol w="2282521"/>
                <a:gridCol w="1768090"/>
                <a:gridCol w="1956939"/>
                <a:gridCol w="1579241"/>
                <a:gridCol w="1631841"/>
                <a:gridCol w="1904341"/>
              </a:tblGrid>
              <a:tr h="13015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Sr.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No.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 Set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Validation, Test Ratio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 Score </a:t>
                      </a:r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20:80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LightGBM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56.93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67.41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57.39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93.73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10:90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68.22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75.31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68.71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97.17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40:60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50.84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55.84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48.14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90.90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50:50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53.90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68.60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54.69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92.40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1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Average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57.34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66.79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57.23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93.55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00332" y="964409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Confusion Matrix of LightGBM on NSL KDD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Content Placeholder 8"/>
          <p:cNvPicPr>
            <a:picLocks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714580" y="3000360"/>
            <a:ext cx="12573088" cy="6572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7456" y="892971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Multi-Class Classification-NSL KDD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857324" y="3143236"/>
          <a:ext cx="14073287" cy="542928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435964"/>
                <a:gridCol w="1604576"/>
                <a:gridCol w="2236943"/>
                <a:gridCol w="1671581"/>
                <a:gridCol w="1790860"/>
                <a:gridCol w="1555565"/>
                <a:gridCol w="1934650"/>
                <a:gridCol w="1843148"/>
              </a:tblGrid>
              <a:tr h="139325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Sr.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No.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 Set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Validation, Test Ratio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 Score </a:t>
                      </a:r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2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40:60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CatBoost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63.19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47.20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46.59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74.15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2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30:70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63.16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47.29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46.66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74.23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2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20:80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63.24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47.37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46.79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74.35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2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Train+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10:90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63.12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47.38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46.75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74.34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206">
                <a:tc grid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Average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63.17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47.31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46.69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74.26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00332" y="964409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Confusion Matrix of CatBoost on NSL KDD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Content Placeholder 8"/>
          <p:cNvPicPr>
            <a:picLocks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643274" y="3000360"/>
            <a:ext cx="10858576" cy="650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7456" y="892971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Multi-Class Classification- CICIDS-2017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857324" y="3214674"/>
          <a:ext cx="14001848" cy="521497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541619"/>
                <a:gridCol w="2458909"/>
                <a:gridCol w="2000264"/>
                <a:gridCol w="2000264"/>
                <a:gridCol w="2000264"/>
                <a:gridCol w="2000264"/>
                <a:gridCol w="2000264"/>
              </a:tblGrid>
              <a:tr h="172237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Sr.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No.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Train, Validation, Test Ratio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 Score </a:t>
                      </a:r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1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60:20:20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LightGBM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1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60:30:10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99.87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99.86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99.86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99.86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1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70:15:15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1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19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Average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00332" y="964409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Confusion Matrix of LightGBM on CICIDS-2017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8"/>
          <p:cNvPicPr>
            <a:picLocks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286084" y="3071798"/>
            <a:ext cx="11572956" cy="650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7456" y="892971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Multi-Class Classification- CICIDS-2017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785886" y="3357550"/>
          <a:ext cx="14359037" cy="500065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536414"/>
                <a:gridCol w="2566168"/>
                <a:gridCol w="1823778"/>
                <a:gridCol w="2278804"/>
                <a:gridCol w="2051291"/>
                <a:gridCol w="2051291"/>
                <a:gridCol w="2051291"/>
              </a:tblGrid>
              <a:tr h="190703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Sr.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No.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Train, Validation, Test Ratio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800" baseline="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 Score </a:t>
                      </a:r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 (%)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4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60:20:20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CatBoost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4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70:15:15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4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70:10:20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407">
                <a:tc gridSpan="3"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Average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99.91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34697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99.90</a:t>
                      </a:r>
                      <a:endParaRPr lang="en-US" sz="2800" dirty="0">
                        <a:solidFill>
                          <a:srgbClr val="034697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3010" y="2128567"/>
            <a:ext cx="1464479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EXPERIMENTS AND RESULTS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00332" y="9644094"/>
            <a:ext cx="1260395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Confusion Matrix of CatBoost on CICIDS-2017 Dataset </a:t>
            </a:r>
            <a:endParaRPr lang="en-US" sz="2800" dirty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8"/>
          <p:cNvPicPr>
            <a:picLocks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071770" y="3000360"/>
            <a:ext cx="11715832" cy="650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57390" y="2071666"/>
            <a:ext cx="1378753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LIMITATIONS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57456" y="3786178"/>
            <a:ext cx="12603956" cy="49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datasets used are generated through simulation and do not represent the real-world network traffic.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The datasets are highly imbalanced since some of the attacks are present in greater quantities than the other attacks.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In these datasets, network behavior and  attacks do not evolve over time, unlike in real-world deployments.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If there is unseen attack types then these models may not generalize well.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While more efficient than deep learning approaches, LightGBM and CatBoost could still be unsuitable for direct use on sensor nodes due to limitations in memory and processing power.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43406" y="1142972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7456" y="2428856"/>
            <a:ext cx="12603956" cy="7135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Key Achievements</a:t>
            </a: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b="1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Successfully applied LightGBM and CatBoost for multi-class classification of network traffic to detect abnormal behavior.</a:t>
            </a:r>
            <a:endParaRPr lang="en-US" sz="2400" b="1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Performed comparative evaluation across datasets with different preprocessing, split ratios, and evaluation metrics.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Achieved accuracy of up to 99.98% with CatBoost and up to 99.90% with LightGBM on certain datasets.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Demonstrated that CatBoost performs better with high-dimensional categorical data, while LightGBM excels in complex but structured numeric datasets.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From the performance analysis of LightGBM and CatBoost, we can say that these models are effective at detecting jamming attacks in wireless sensor networks.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Identified dataset imbalance and lack of real-time variability as limiting factors for model generalization.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85952" y="2071666"/>
            <a:ext cx="1378753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FUTURE SCOPE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00332" y="4143368"/>
            <a:ext cx="12603956" cy="381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Potential Improvements: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We can increase the accuracy by training the models on more datasets.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we can also increase the robustness of the model for real-world wireless networks by training the models on real-time datasets.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Combine LightGBM/CatBoost with deep learning models (e.g., CNN + Gradient Boosting) to capture both spatial and temporal attack patterns.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Implement reinforcement learning to adapt models in real time to evolving jamming behaviors.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85952" y="1357286"/>
            <a:ext cx="1378753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REFERENCES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8894" y="2714608"/>
            <a:ext cx="12603956" cy="7135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Alqahtani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M.,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Gumaei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A.,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Mathkour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H., &amp; Ismail, M. M. B. (2019). A Genetic-Based extreme gradient boosting model for detecting intrusions in wireless sensor networks.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Sensors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(20), 4383. </a:t>
            </a:r>
            <a:r>
              <a:rPr lang="en-US" sz="2400" u="sng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  <a:hlinkClick r:id="rId8"/>
              </a:rPr>
              <a:t>https://doi.org/10.3390/s19204383</a:t>
            </a:r>
            <a:endParaRPr lang="en-US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Osanaiye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O., Alfa, A. S., &amp;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Hancke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G. P. (2018). A statistical approach to detect jamming attacks in wireless sensor networks.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Sensors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(6), 1691. https://doi.org/10.3390/s18061691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Tabbaa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H.,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Ifzarne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S., &amp;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Hafidi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I. (2022). An online ensemble learning model for detecting attacks in wireless sensor networks. </a:t>
            </a:r>
            <a:r>
              <a:rPr lang="en-US" sz="2400" i="1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arXiv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 preprint arXiv:2204.13814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Jere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S., Wang, Y.,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Aryendu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I.,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Dayekh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S., &amp; Liu, L. (2023). Bayesian Inference-Assisted Machine Learning for Near Real-Time Jamming Detection and Classification in 5G New Radio (NR).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IEEE Transactions on Wireless Communications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(7), 7043–7059. https://doi.org/10.1109/twc.2023.3337058.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400" b="1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85952" y="1071534"/>
            <a:ext cx="1378753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000" b="1" dirty="0" smtClean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REFERENCES</a:t>
            </a:r>
            <a:endParaRPr lang="en-US" sz="8000" b="1" dirty="0">
              <a:solidFill>
                <a:srgbClr val="034697"/>
              </a:solidFill>
              <a:latin typeface="Times New Roman" pitchFamily="18" charset="0"/>
              <a:ea typeface="Futura Bold"/>
              <a:cs typeface="Times New Roman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8894" y="2285980"/>
            <a:ext cx="12603956" cy="775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5.  Lee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S., Lee, Y.,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Jeon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S., &amp; Lee, I. (2023). Machine learning-based jamming attack classification and effective defense technique.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Computers &amp; Security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128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103169. 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  <a:hlinkClick r:id="rId8"/>
              </a:rPr>
              <a:t>https://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  <a:hlinkClick r:id="rId8"/>
              </a:rPr>
              <a:t>doi.org/10.1016/j.cose.2023.103169</a:t>
            </a:r>
            <a:endParaRPr lang="en-US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lnSpc>
                <a:spcPct val="150000"/>
              </a:lnSpc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6. 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Hachimi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M.,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Kaddoum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G., Gagnon, G., &amp;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Illy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P. (2020). Multi-stage Jamming Attacks Detection using Deep Learning Combined with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Kernelized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 Support Vector Machine in 5G Cloud Radio Access Networks.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2022 International Symposium on Networks, Computers and Communications (ISNCC)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1–5. https://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doi.org/10.1109/isncc49221.2020.9297290</a:t>
            </a:r>
            <a:endParaRPr lang="en-IN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lnSpc>
                <a:spcPct val="150000"/>
              </a:lnSpc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7.  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Roopak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M.,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Tian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G. Y., &amp; Chambers, J. (2019). Deep learning models for cyber security in IoT networks.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2022 IEEE 12th Annual Computing and Communication Workshop and Conference (CCWC)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. https://doi.org/10.1109/ccwc.2019.8666588</a:t>
            </a:r>
          </a:p>
          <a:p>
            <a:pPr marL="457200" lvl="0" indent="-457200">
              <a:lnSpc>
                <a:spcPct val="150000"/>
              </a:lnSpc>
            </a:pP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8.   Jan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S. U., Ahmed, S., </a:t>
            </a:r>
            <a:r>
              <a:rPr lang="en-US" sz="2400" dirty="0" err="1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Shakhov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V., &amp; Koo, I. (2019). Toward a lightweight intrusion detection system for the internet of things.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IEEE Access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, 42450–42471. https://</a:t>
            </a:r>
            <a:r>
              <a:rPr lang="en-US" sz="2400" dirty="0" smtClean="0">
                <a:solidFill>
                  <a:srgbClr val="034697"/>
                </a:solidFill>
                <a:latin typeface="Times New Roman" pitchFamily="18" charset="0"/>
                <a:cs typeface="Times New Roman" pitchFamily="18" charset="0"/>
              </a:rPr>
              <a:t>doi.org/10.1109/access.2019.2907965</a:t>
            </a:r>
            <a:endParaRPr lang="en-US" sz="2400" b="1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 smtClean="0">
              <a:solidFill>
                <a:srgbClr val="034697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27384" y="3607558"/>
            <a:ext cx="11633233" cy="286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THANK</a:t>
            </a:r>
          </a:p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Times New Roman" pitchFamily="18" charset="0"/>
                <a:ea typeface="Futura Bold"/>
                <a:cs typeface="Times New Roman" pitchFamily="18" charset="0"/>
                <a:sym typeface="Futura Bold"/>
              </a:rPr>
              <a:t>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2317</Words>
  <Application>Microsoft Office PowerPoint</Application>
  <PresentationFormat>Custom</PresentationFormat>
  <Paragraphs>469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Times New Roman</vt:lpstr>
      <vt:lpstr>Futura Bold</vt:lpstr>
      <vt:lpstr>Varela Round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dc:creator>user2</dc:creator>
  <cp:lastModifiedBy>user2</cp:lastModifiedBy>
  <cp:revision>34</cp:revision>
  <dcterms:created xsi:type="dcterms:W3CDTF">2006-08-16T00:00:00Z</dcterms:created>
  <dcterms:modified xsi:type="dcterms:W3CDTF">2025-07-26T11:33:15Z</dcterms:modified>
  <dc:identifier>DAGuJm4I49g</dc:identifier>
</cp:coreProperties>
</file>